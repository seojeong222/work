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949440" y="2377440"/>
            <a:ext cx="5852160" cy="5120640"/>
          </a:xfrm>
          <a:prstGeom prst="triangle">
            <a:avLst/>
          </a:prstGeom>
          <a:solidFill>
            <a:srgbClr val="F9BB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내부회계관리부서 · 경영정보시스템팀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업무 권한 분기 모니터링 수행 가이드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 담당자용 · 권한 검토부터 엑셀 작성, 블라썸 기안, 회수 결과 확인까지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내부회계관리부서 | 2026.07.14</a:t>
            </a:r>
            <a:endParaRPr lang="en-US" sz="1200" dirty="0"/>
          </a:p>
        </p:txBody>
      </p:sp>
      <p:pic>
        <p:nvPicPr>
          <p:cNvPr id="9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1371600" cy="160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업무 권한 분기 모니터링 수행 가이드</a:t>
            </a:r>
            <a:endParaRPr lang="en-US" sz="105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400800"/>
            <a:ext cx="1051560" cy="12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14455" y="63825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</a:t>
            </a:r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관리부서가 해야 할 일과 전체 일정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078992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FF6DC"/>
          </a:solidFill>
          <a:ln w="12700">
            <a:solidFill>
              <a:srgbClr val="F9B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078992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확인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수령 후 10영업일 이내 모든 행을 '적정' 또는 '회수 필요'로 확정하고, 팀장 결재와 회람까지 완료합니다.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관리부서가 최종적으로 제출해야 하는 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2121408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행의 검토가 완료된 엑셀파일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전체·적정·회수 필요 건수가 기재된 블라썸 프리폼 기안</a:t>
            </a:r>
            <a:endParaRPr lang="en-US" sz="105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필요 건 및 한시적 유지 건에 대한 특이사항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수행 절차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456432"/>
            <a:ext cx="2105497" cy="384048"/>
          </a:xfrm>
          <a:prstGeom prst="rect">
            <a:avLst/>
          </a:prstGeom>
          <a:solidFill>
            <a:srgbClr val="002A5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456432"/>
            <a:ext cx="21054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검토파일 수령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840480"/>
            <a:ext cx="2105497" cy="987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3895344"/>
            <a:ext cx="19591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발신: 내부회계관리부서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수신: 관리부서 담당자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참조: 관리부서 팀장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2590129" y="3474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73009" y="3456432"/>
            <a:ext cx="2105497" cy="384048"/>
          </a:xfrm>
          <a:prstGeom prst="rect">
            <a:avLst/>
          </a:prstGeom>
          <a:solidFill>
            <a:srgbClr val="002A5B"/>
          </a:solidFill>
          <a:ln/>
        </p:spPr>
      </p:sp>
      <p:sp>
        <p:nvSpPr>
          <p:cNvPr id="17" name="Text 14"/>
          <p:cNvSpPr/>
          <p:nvPr/>
        </p:nvSpPr>
        <p:spPr>
          <a:xfrm>
            <a:off x="2773009" y="3456432"/>
            <a:ext cx="21054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파일·대상 확인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73009" y="3840480"/>
            <a:ext cx="2105497" cy="987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46161" y="3895344"/>
            <a:ext cx="19591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관리부서 담당자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권한목록/직무/사번·성명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시 즉시 문의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860219" y="3474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43099" y="3456432"/>
            <a:ext cx="2105497" cy="384048"/>
          </a:xfrm>
          <a:prstGeom prst="rect">
            <a:avLst/>
          </a:prstGeom>
          <a:solidFill>
            <a:srgbClr val="002A5B"/>
          </a:solidFill>
          <a:ln/>
        </p:spPr>
      </p:sp>
      <p:sp>
        <p:nvSpPr>
          <p:cNvPr id="22" name="Text 19"/>
          <p:cNvSpPr/>
          <p:nvPr/>
        </p:nvSpPr>
        <p:spPr>
          <a:xfrm>
            <a:off x="5043099" y="3456432"/>
            <a:ext cx="21054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적정성 검토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43099" y="3840480"/>
            <a:ext cx="2105497" cy="987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16251" y="3895344"/>
            <a:ext cx="19591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관리부서 담당자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수령 후 10영업일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행별 적정/회수 필요 확정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7130308" y="3474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313188" y="3456432"/>
            <a:ext cx="2105497" cy="384048"/>
          </a:xfrm>
          <a:prstGeom prst="rect">
            <a:avLst/>
          </a:prstGeom>
          <a:solidFill>
            <a:srgbClr val="002A5B"/>
          </a:solidFill>
          <a:ln/>
        </p:spPr>
      </p:sp>
      <p:sp>
        <p:nvSpPr>
          <p:cNvPr id="27" name="Text 24"/>
          <p:cNvSpPr/>
          <p:nvPr/>
        </p:nvSpPr>
        <p:spPr>
          <a:xfrm>
            <a:off x="7313188" y="3456432"/>
            <a:ext cx="21054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블라썸 기안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13188" y="3840480"/>
            <a:ext cx="2105497" cy="987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86340" y="3895344"/>
            <a:ext cx="19591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기안: 담당자 / 결재: 팀장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회람: 내부회계관리부서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경영정보시스템팀</a:t>
            </a:r>
            <a:endParaRPr lang="en-US" sz="870" dirty="0"/>
          </a:p>
        </p:txBody>
      </p:sp>
      <p:sp>
        <p:nvSpPr>
          <p:cNvPr id="30" name="Text 27"/>
          <p:cNvSpPr/>
          <p:nvPr/>
        </p:nvSpPr>
        <p:spPr>
          <a:xfrm>
            <a:off x="9400398" y="347472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583278" y="3456432"/>
            <a:ext cx="2105497" cy="384048"/>
          </a:xfrm>
          <a:prstGeom prst="rect">
            <a:avLst/>
          </a:prstGeom>
          <a:solidFill>
            <a:srgbClr val="002A5B"/>
          </a:solidFill>
          <a:ln/>
        </p:spPr>
      </p:sp>
      <p:sp>
        <p:nvSpPr>
          <p:cNvPr id="32" name="Text 29"/>
          <p:cNvSpPr/>
          <p:nvPr/>
        </p:nvSpPr>
        <p:spPr>
          <a:xfrm>
            <a:off x="9583278" y="3456432"/>
            <a:ext cx="21054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B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회수·결과 확인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583278" y="3840480"/>
            <a:ext cx="2105497" cy="987552"/>
          </a:xfrm>
          <a:prstGeom prst="rect">
            <a:avLst/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56430" y="3895344"/>
            <a:ext cx="19591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담당: 경영정보시스템팀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기한: 회람 후 1주일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조치결과 이메일 회신</a:t>
            </a:r>
            <a:endParaRPr lang="en-US" sz="870" dirty="0"/>
          </a:p>
        </p:txBody>
      </p:sp>
      <p:sp>
        <p:nvSpPr>
          <p:cNvPr id="35" name="Text 32"/>
          <p:cNvSpPr/>
          <p:nvPr/>
        </p:nvSpPr>
        <p:spPr>
          <a:xfrm>
            <a:off x="50292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기준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94360" y="53492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행의 검토 결과 확정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 팀장 결재 완료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내부회계관리부서·경영정보시스템팀 회람 완료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필요 건의 실제 회수 결과 확인</a:t>
            </a:r>
            <a:endParaRPr lang="en-US" sz="10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미완료 건의 후속조치 최종 완료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업무 권한 분기 모니터링 수행 가이드</a:t>
            </a:r>
            <a:endParaRPr lang="en-US" sz="105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400800"/>
            <a:ext cx="1051560" cy="12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14455" y="63825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</a:t>
            </a:r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권한별 검토 및 엑셀 작성방법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078992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FF6DC"/>
          </a:solidFill>
          <a:ln w="12700">
            <a:solidFill>
              <a:srgbClr val="F9B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078992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확인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행의 사용자·권한·만료일·현재 업무상 필요성을 확인한 뒤, 반드시 '적정' 또는 '회수 필요' 중 하나로 결론을 확정합니다.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행별 검토 순서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121408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사용자·권한 확인 : 사번·성명·소속부서·직무명(코드)·신청일·만료일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만료일 확인 : 경과 시 자동 회수 필요 / 공란 시 경영정보시스템팀에 사유 확인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업무상 필요성 판단 : 현재 업무 필요 여부, 지속 보유 역할, 한시적 사유(프로젝트·겸직 등), 이동·변경·종료 여부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판단 어려운 경우 : 본인·소속부서·팀장에게 확인(이메일/Teams/유선), 기한 내 미회신 시 재확인, 기안 전 전건 확정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502920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작성기준 및 금지사항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224528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결과 : 드롭다운에서 '적정'/'회수 필요' 중 택1 ('확인 중'·'보류' 등 입력 금지)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의견 : 회수 필요·한시적 유지 건은 사유·필요기간 필수 작성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금지사항 : 원본 정보·컬럼·행 수정/삭제 금지, 회수 필요 건 별도 시트 이동 금지, 일부만 작성 후 기안 금지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4937760" y="1810512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처리기준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103120"/>
          <a:ext cx="6751015" cy="914400"/>
        </p:xfrm>
        <a:graphic>
          <a:graphicData uri="http://schemas.openxmlformats.org/drawingml/2006/table">
            <a:tbl>
              <a:tblPr/>
              <a:tblGrid>
                <a:gridCol w="2835426"/>
                <a:gridCol w="3915589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결과 및 처리방법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업무에 필요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권한만료일 경과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'회수 필요'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권한만료일 공란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경영정보시스템팀에 사유 확인 후 확정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소속부서와 사용부서 다르나 실제 필요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적정 가능(관리부서 최종 판단)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프로젝트·겸직 등 한시적 필요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적정 처리 + 유지사유·필요기간 기재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퇴직자·휴직자 포함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필요 여부 별도 확인 후 판단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동일·유사 권한 중복 보유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중복은 미검토, 해당 권한 자체만 판단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 무관·불필요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 필요</a:t>
                      </a:r>
                      <a:endParaRPr lang="en-US" sz="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937760" y="4892040"/>
            <a:ext cx="6751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의견 작성 예시</a:t>
            </a:r>
            <a:endParaRPr lang="en-US" sz="12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5193792"/>
          <a:ext cx="6751015" cy="914400"/>
        </p:xfrm>
        <a:graphic>
          <a:graphicData uri="http://schemas.openxmlformats.org/drawingml/2006/table">
            <a:tbl>
              <a:tblPr/>
              <a:tblGrid>
                <a:gridCol w="1350203"/>
                <a:gridCol w="1080162"/>
                <a:gridCol w="432065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사례</a:t>
                      </a:r>
                      <a:endParaRPr lang="en-US" sz="81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결과</a:t>
                      </a:r>
                      <a:endParaRPr lang="en-US" sz="81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1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의견 예시</a:t>
                      </a:r>
                      <a:endParaRPr lang="en-US" sz="81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 한시 필요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적정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○○프로젝트 지원을 위해 2026.09.30까지 한시적으로 유지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만료일 경과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 필요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권한만료일이 경과하여 회수 요청함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담당업무 변경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 필요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담당업무 변경으로 현재 업무와 관련 없어 회수 요청함</a:t>
                      </a:r>
                      <a:endParaRPr lang="en-US" sz="76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업무 권한 분기 모니터링 수행 가이드</a:t>
            </a:r>
            <a:endParaRPr lang="en-US" sz="105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400800"/>
            <a:ext cx="1051560" cy="12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14455" y="63825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</a:t>
            </a:r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블라썸 프리폼 기안 및 회람방법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078992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FF6DC"/>
          </a:solidFill>
          <a:ln w="12700">
            <a:solidFill>
              <a:srgbClr val="F9B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078992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확인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필요 건이 0건이어도 검토 수행·팀장 승인 사실을 남기기 위해 반드시 기안하며, 검토 완료 엑셀파일 전체를 첨부합니다.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기안 기준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1203350"/>
                <a:gridCol w="309433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자료 수령 후 10영업일 이내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기안자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관리부서 담당자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결재자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관리부서 팀장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회람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내부회계관리부서, 경영정보시스템팀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첨부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검토 완료 엑셀파일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913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기안 제목 형식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: [YYYY년 N분기] SAP 업무 권한 모니터링 결과_관리부서명</a:t>
            </a:r>
            <a:endParaRPr lang="en-US" sz="95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: [2026년 2분기] SAP 업무 권한 모니터링 결과_경영정보시스템팀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4892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 기준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519379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요청 배포본 : 권한리스트_20260625_경영정보시스템팀검토요청.xlsx</a:t>
            </a:r>
            <a:endParaRPr lang="en-US" sz="88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 검토 완료본 : 권한리스트_20260625_경영정보시스템팀_검토완료.xlsx</a:t>
            </a:r>
            <a:endParaRPr lang="en-US" sz="88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8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완료본에는 기준일자·관리부서명·'검토완료' 문구를 식별 가능하도록 기재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5074920" y="1810512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기안 본문 필수 기재사항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120640" y="2121408"/>
            <a:ext cx="66138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검토 건수 / 적정 건수 / 회수 필요 건수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필요 건의 주요 사유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한시적 유지 건 등 특이사항</a:t>
            </a:r>
            <a:endParaRPr lang="en-US" sz="93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3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경영정보시스템팀 권한 회수 요청, 검토 완료 엑셀 첨부</a:t>
            </a:r>
            <a:endParaRPr lang="en-US" sz="930" dirty="0"/>
          </a:p>
        </p:txBody>
      </p:sp>
      <p:sp>
        <p:nvSpPr>
          <p:cNvPr id="16" name="Text 12"/>
          <p:cNvSpPr/>
          <p:nvPr/>
        </p:nvSpPr>
        <p:spPr>
          <a:xfrm>
            <a:off x="5074920" y="3063240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블라썸 프리폼 기안문 샘플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74920" y="3364992"/>
            <a:ext cx="6613855" cy="2788920"/>
          </a:xfrm>
          <a:prstGeom prst="roundRect">
            <a:avLst>
              <a:gd name="adj" fmla="val 1639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0" y="3456432"/>
            <a:ext cx="633953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관련 : SAP 업무 및 직무권한 운영 관리 지침 및 [YYYY년 N분기] SAP 업무 권한 모니터링 요청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검토 개요 : 당 부서 관리 SAP 업무 권한 보유자를 대상으로 현재 업무상 지속 보유 적정성을 검토함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검토 결과 : 전체 ○○건 / 적정 ○○건 / 회수 필요 ○○건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특이사항 : 회수 필요 세부사유(첨부 참조), 한시적 유지 ○○건 및 필요기간 (없으면 '특이사항 없음')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요청사항 : 경영정보시스템팀 회수 조치 요청 → 조치 완료 후 사번·성명·직무·처리결과·처리일자·완료여부를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내부회계관리부서·당 부서로 이메일 회신, 미완료 건은 미조치 사유 함께 회신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붙임. 권한리스트_YYYYMMDD_관리부서명_검토완료.xlsx 1부.  끝.</a:t>
            </a: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endParaRPr lang="en-US" sz="8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22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※ 회수 필요 0건 시 : "검토 결과 전체 ○○건이 적정한 것으로 확인되었으며, 별도 회수 요청 대상은 없습니다."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SAP 업무 권한 분기 모니터링 수행 가이드</a:t>
            </a:r>
            <a:endParaRPr lang="en-US" sz="1050" dirty="0"/>
          </a:p>
        </p:txBody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400800"/>
            <a:ext cx="1051560" cy="1234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14455" y="63825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 </a:t>
            </a:r>
            <a:pPr indent="0" marL="0">
              <a:buNone/>
            </a:pPr>
            <a:r>
              <a:rPr lang="en-US" sz="17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회수 결과 확인 및 최종 종결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2920" y="1078992"/>
            <a:ext cx="11185855" cy="566928"/>
          </a:xfrm>
          <a:prstGeom prst="roundRect">
            <a:avLst>
              <a:gd name="adj" fmla="val 9677"/>
            </a:avLst>
          </a:prstGeom>
          <a:solidFill>
            <a:srgbClr val="FFF6DC"/>
          </a:solidFill>
          <a:ln w="12700">
            <a:solidFill>
              <a:srgbClr val="F9BB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078992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확인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'회수 필요' 표시나 결재 완료로 끝나지 않으며, 경영정보시스템팀의 실제 회수 완료 여부까지 확인해야 종결됩니다.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경영정보시스템팀의 권한 회수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4297680" cy="914400"/>
        </p:xfrm>
        <a:graphic>
          <a:graphicData uri="http://schemas.openxmlformats.org/drawingml/2006/table">
            <a:tbl>
              <a:tblPr/>
              <a:tblGrid>
                <a:gridCol w="1203350"/>
                <a:gridCol w="309433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A5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조치대상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관리부서가 '회수 필요'로 확정한 권한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조치기한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블라썸 결재문서 회람 후 1주일 이내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조치부서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경영정보시스템팀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회신방법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이메일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회신대상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B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내부회계관리부서, 해당 권한 관리부서</a:t>
                      </a:r>
                      <a:endParaRPr lang="en-US" sz="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결과 이메일 포함정보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22452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사번 / 성명 / 직무명(코드)</a:t>
            </a:r>
            <a:endParaRPr lang="en-US" sz="9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회수 처리 결과 / 처리일자</a:t>
            </a:r>
            <a:endParaRPr lang="en-US" sz="9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여부(완료·미완료) / 조치 완료일</a:t>
            </a:r>
            <a:endParaRPr lang="en-US" sz="90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미완료 시 미조치 사유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02920" y="5257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내부회계관리부서 종결절차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55595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회수 결과 이메일 수신 → ② 검토 완료 엑셀과 대조 → ③ 처리결과·완료여부 확인</a:t>
            </a:r>
            <a:endParaRPr lang="en-US" sz="860" dirty="0"/>
          </a:p>
          <a:p>
            <a:pPr marL="127000" indent="-1270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6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전체 '완료' 시 종결 → ⑤ 미완료 시 사유·향후 일정 확인 → ⑥ 예정일에 재확인 → ⑦ 완료 후 최종 종결</a:t>
            </a:r>
            <a:endParaRPr lang="en-US" sz="860" dirty="0"/>
          </a:p>
        </p:txBody>
      </p:sp>
      <p:sp>
        <p:nvSpPr>
          <p:cNvPr id="14" name="Text 10"/>
          <p:cNvSpPr/>
          <p:nvPr/>
        </p:nvSpPr>
        <p:spPr>
          <a:xfrm>
            <a:off x="5074920" y="1810512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</a:t>
            </a:r>
            <a:pPr indent="0" marL="0">
              <a:buNone/>
            </a:pPr>
            <a:r>
              <a:rPr lang="en-US" sz="125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체크리스트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74920" y="2103120"/>
            <a:ext cx="3192628" cy="3429000"/>
          </a:xfrm>
          <a:prstGeom prst="roundRect">
            <a:avLst>
              <a:gd name="adj" fmla="val 1432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84648" y="2194560"/>
            <a:ext cx="297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관리부서 담당자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184648" y="2487168"/>
            <a:ext cx="29731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Outlook으로 검토파일 수령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본인 관리부서 목록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행별 개별 검토 수행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만료일 경과 건 회수 필요 처리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만료일 공란 건 사유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판단 어려운 건 추가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전건 적정/회수 필요 확정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회수 필요 건 사유 작성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한시적 유지 건 사유·기간 작성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전체/적정/회수 건수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10영업일 내 블라썸 기안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팀장 결재 후 회람 완료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496148" y="2103120"/>
            <a:ext cx="3192628" cy="3429000"/>
          </a:xfrm>
          <a:prstGeom prst="roundRect">
            <a:avLst>
              <a:gd name="adj" fmla="val 1432"/>
            </a:avLst>
          </a:prstGeom>
          <a:solidFill>
            <a:srgbClr val="F5F6F8"/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05876" y="2194560"/>
            <a:ext cx="2973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A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내부회계관리부서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605876" y="2487168"/>
            <a:ext cx="29731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전체 관리부서 기안·회람 완료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회수 필요 건과 실제 처리결과 대조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완료 여부·조치 완료일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미완료 건 사유 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미완료 건 완료 여부 재확인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22B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□ 전 건 완료 후 해당 분기 종결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949440" y="2377440"/>
            <a:ext cx="5852160" cy="5120640"/>
          </a:xfrm>
          <a:prstGeom prst="triangle">
            <a:avLst/>
          </a:prstGeom>
          <a:solidFill>
            <a:srgbClr val="F9BB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D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 Of Document</a:t>
            </a:r>
            <a:endParaRPr lang="en-US" sz="3000" dirty="0"/>
          </a:p>
        </p:txBody>
      </p:sp>
      <p:pic>
        <p:nvPicPr>
          <p:cNvPr id="5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1371600" cy="160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2026-07-14T09:12:20Z</dcterms:created>
  <dcterms:modified xsi:type="dcterms:W3CDTF">2026-07-14T09:12:20Z</dcterms:modified>
</cp:coreProperties>
</file>